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70" r:id="rId13"/>
    <p:sldId id="271" r:id="rId14"/>
    <p:sldId id="266" r:id="rId15"/>
    <p:sldId id="267" r:id="rId16"/>
    <p:sldId id="268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F6D2"/>
    <a:srgbClr val="2121F3"/>
    <a:srgbClr val="D4EC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5" d="100"/>
          <a:sy n="75" d="100"/>
        </p:scale>
        <p:origin x="226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A2ADE-D615-4781-8CBD-B8E80CBF2117}" type="datetimeFigureOut">
              <a:rPr lang="en-IN" smtClean="0"/>
              <a:t>17-10-2026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99266B-C49B-49AB-A119-E5A84E719D1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4043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99266B-C49B-49AB-A119-E5A84E719D1C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22761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99266B-C49B-49AB-A119-E5A84E719D1C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7696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110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377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399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308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194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6288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0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477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290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956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4473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40164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27313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109459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250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387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33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417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4007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47963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167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32644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8031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02139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56215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1504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8162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199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  <p:sldLayoutId id="2147483700" r:id="rId12"/>
    <p:sldLayoutId id="2147483701" r:id="rId13"/>
    <p:sldLayoutId id="2147483702" r:id="rId14"/>
    <p:sldLayoutId id="2147483703" r:id="rId15"/>
    <p:sldLayoutId id="2147483704" r:id="rId16"/>
    <p:sldLayoutId id="2147483705" r:id="rId17"/>
    <p:sldLayoutId id="2147483706" r:id="rId18"/>
    <p:sldLayoutId id="2147483707" r:id="rId19"/>
    <p:sldLayoutId id="2147483708" r:id="rId20"/>
    <p:sldLayoutId id="2147483709" r:id="rId21"/>
    <p:sldLayoutId id="2147483710" r:id="rId22"/>
    <p:sldLayoutId id="2147483711" r:id="rId23"/>
    <p:sldLayoutId id="2147483712" r:id="rId24"/>
    <p:sldLayoutId id="2147483713" r:id="rId25"/>
    <p:sldLayoutId id="2147483714" r:id="rId26"/>
    <p:sldLayoutId id="2147483715" r:id="rId27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" TargetMode="External"/><Relationship Id="rId2" Type="http://schemas.openxmlformats.org/officeDocument/2006/relationships/hyperlink" Target="https://github.com/HemaHema289205/multi-branch-sales-data-warehouse" TargetMode="External"/><Relationship Id="rId1" Type="http://schemas.openxmlformats.org/officeDocument/2006/relationships/slideLayout" Target="../slideLayouts/slideLayout25.xml"/><Relationship Id="rId6" Type="http://schemas.openxmlformats.org/officeDocument/2006/relationships/hyperlink" Target="https://learn.microsoft.com/power-bi/" TargetMode="External"/><Relationship Id="rId5" Type="http://schemas.openxmlformats.org/officeDocument/2006/relationships/hyperlink" Target="https://dev.mysql.com/doc/" TargetMode="External"/><Relationship Id="rId4" Type="http://schemas.openxmlformats.org/officeDocument/2006/relationships/hyperlink" Target="https://pandas.pydata.org/docs/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460248" y="571715"/>
            <a:ext cx="11521440" cy="23780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>
              <a:spcAft>
                <a:spcPts val="200"/>
              </a:spcAft>
            </a:pPr>
            <a:r>
              <a:rPr lang="en-US" sz="4800" b="1" i="0" dirty="0">
                <a:latin typeface="Aptos"/>
              </a:rPr>
              <a:t>    </a:t>
            </a:r>
            <a:r>
              <a:rPr sz="4800" b="1" i="0" dirty="0">
                <a:latin typeface="Aptos"/>
              </a:rPr>
              <a:t>An Intelligent System to Consolidate</a:t>
            </a:r>
            <a:endParaRPr lang="en-US" sz="4800" b="1" i="0" dirty="0">
              <a:latin typeface="Aptos"/>
            </a:endParaRPr>
          </a:p>
          <a:p>
            <a:pPr>
              <a:spcAft>
                <a:spcPts val="200"/>
              </a:spcAft>
            </a:pPr>
            <a:r>
              <a:rPr lang="en-IN" sz="4800" b="1" dirty="0">
                <a:latin typeface="Aptos"/>
              </a:rPr>
              <a:t>  </a:t>
            </a:r>
            <a:r>
              <a:rPr sz="4800" b="1" i="0" dirty="0">
                <a:latin typeface="Aptos"/>
              </a:rPr>
              <a:t> </a:t>
            </a:r>
            <a:r>
              <a:rPr lang="en-US" sz="4800" b="1" i="0" dirty="0">
                <a:latin typeface="Aptos"/>
              </a:rPr>
              <a:t>   </a:t>
            </a:r>
            <a:r>
              <a:rPr sz="4800" b="1" i="0" dirty="0">
                <a:latin typeface="Aptos"/>
              </a:rPr>
              <a:t>Multi-Branch Sales Data</a:t>
            </a:r>
            <a:r>
              <a:rPr lang="en-US" sz="4800" b="1" i="0" dirty="0">
                <a:latin typeface="Aptos"/>
              </a:rPr>
              <a:t> </a:t>
            </a:r>
            <a:r>
              <a:rPr sz="4800" b="1" i="0" dirty="0">
                <a:latin typeface="Aptos"/>
              </a:rPr>
              <a:t>for</a:t>
            </a:r>
            <a:r>
              <a:rPr lang="en-US" sz="4800" b="1" i="0" dirty="0">
                <a:latin typeface="Aptos"/>
              </a:rPr>
              <a:t> </a:t>
            </a:r>
            <a:r>
              <a:rPr lang="en-IN" sz="4800" b="1" dirty="0">
                <a:latin typeface="Aptos"/>
              </a:rPr>
              <a:t>Trend</a:t>
            </a:r>
            <a:endParaRPr lang="en-US" sz="4800" b="1" i="0" dirty="0">
              <a:latin typeface="Aptos"/>
            </a:endParaRPr>
          </a:p>
          <a:p>
            <a:pPr>
              <a:spcAft>
                <a:spcPts val="200"/>
              </a:spcAft>
            </a:pPr>
            <a:r>
              <a:rPr lang="en-IN" sz="4800" b="1" dirty="0">
                <a:latin typeface="Aptos"/>
              </a:rPr>
              <a:t>                                 Analysis</a:t>
            </a:r>
            <a:endParaRPr sz="4800" b="1" i="0" dirty="0"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106928" y="2949802"/>
            <a:ext cx="6949440" cy="38779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 dirty="0">
                <a:latin typeface="Aptos"/>
              </a:rPr>
              <a:t>Data Warehouse • OLAP Analysis • Power BI 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027680" y="2885794"/>
            <a:ext cx="5638800" cy="64008"/>
          </a:xfrm>
          <a:prstGeom prst="rect">
            <a:avLst/>
          </a:prstGeom>
          <a:solidFill>
            <a:srgbClr val="389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424928" y="5205645"/>
            <a:ext cx="6583680" cy="129573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b="0" i="0" dirty="0">
                <a:latin typeface="Aptos"/>
              </a:rPr>
              <a:t>Presented by: Gudimetla Hema Kota Nagu
Roll No.: 23ME1A5421
Guide: Mr. K. Rajendra
Ramachandra College of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6272784"/>
            <a:ext cx="7315200" cy="2286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E6E0F6"/>
                </a:solidFill>
                <a:latin typeface="Aptos"/>
              </a:rPr>
              <a:t>Academic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572464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 dirty="0">
                <a:solidFill>
                  <a:srgbClr val="1D2748"/>
                </a:solidFill>
                <a:latin typeface="Aptos"/>
              </a:rPr>
              <a:t>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10744200" cy="1417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 i="0">
                <a:solidFill>
                  <a:srgbClr val="2F3442"/>
                </a:solidFill>
                <a:latin typeface="Aptos"/>
              </a:rPr>
              <a:t>This project presents a star-schema data warehouse that consolidates multi-branch retail sales data for trend analysis. Point-of-sale transaction exports are cleaned and transformed using Python and Pandas, then stored in MySQL for structured analysis. SQL-based analytical queries and OLAP-style views support comparison across time, branches, products and customer segments. The results are presented through a Power BI dashboard designed to help regional managers monitor performance and make data-informed decisions.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46120"/>
            <a:ext cx="3383280" cy="141732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392424"/>
            <a:ext cx="3063240" cy="3724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 dirty="0">
                <a:solidFill>
                  <a:schemeClr val="bg1">
                    <a:lumMod val="95000"/>
                  </a:schemeClr>
                </a:solidFill>
                <a:latin typeface="Aptos"/>
              </a:rPr>
              <a:t>Centralized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67328"/>
            <a:ext cx="3063240" cy="5416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 dirty="0">
                <a:solidFill>
                  <a:schemeClr val="bg1">
                    <a:lumMod val="95000"/>
                  </a:schemeClr>
                </a:solidFill>
                <a:latin typeface="Aptos"/>
              </a:rPr>
              <a:t>Combines sales records from multiple branches.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3246120"/>
            <a:ext cx="3383280" cy="141732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3392424"/>
            <a:ext cx="3063240" cy="3724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 dirty="0">
                <a:solidFill>
                  <a:schemeClr val="bg1">
                    <a:lumMod val="95000"/>
                  </a:schemeClr>
                </a:solidFill>
                <a:latin typeface="Aptos"/>
              </a:rPr>
              <a:t>Analytical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767328"/>
            <a:ext cx="3063240" cy="5416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 dirty="0">
                <a:solidFill>
                  <a:schemeClr val="bg1">
                    <a:lumMod val="95000"/>
                  </a:schemeClr>
                </a:solidFill>
                <a:latin typeface="Aptos"/>
              </a:rPr>
              <a:t>Star schema supports efficient reporting</a:t>
            </a:r>
            <a:r>
              <a:rPr sz="1400" b="0" i="0" dirty="0">
                <a:solidFill>
                  <a:srgbClr val="2F3442"/>
                </a:solidFill>
                <a:latin typeface="Aptos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3246120"/>
            <a:ext cx="3383280" cy="141732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3392424"/>
            <a:ext cx="3063240" cy="37241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 dirty="0">
                <a:solidFill>
                  <a:schemeClr val="bg1">
                    <a:lumMod val="95000"/>
                  </a:schemeClr>
                </a:solidFill>
                <a:latin typeface="Aptos"/>
              </a:rPr>
              <a:t>Visual insights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767328"/>
            <a:ext cx="3063240" cy="541687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 dirty="0">
                <a:solidFill>
                  <a:schemeClr val="bg1">
                    <a:lumMod val="95000"/>
                  </a:schemeClr>
                </a:solidFill>
                <a:latin typeface="Aptos"/>
              </a:rPr>
              <a:t>Power BI turns metrics into interactive views.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07040" cy="357021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 dirty="0">
                <a:solidFill>
                  <a:schemeClr val="accent5">
                    <a:lumMod val="75000"/>
                  </a:schemeClr>
                </a:solidFill>
                <a:latin typeface="Aptos"/>
              </a:rPr>
              <a:t>Keywords:</a:t>
            </a:r>
            <a:r>
              <a:rPr lang="en-US" sz="1600" b="1" i="0" dirty="0">
                <a:solidFill>
                  <a:schemeClr val="accent5">
                    <a:lumMod val="75000"/>
                  </a:schemeClr>
                </a:solidFill>
                <a:latin typeface="Aptos"/>
              </a:rPr>
              <a:t> </a:t>
            </a:r>
            <a:r>
              <a:rPr sz="1600" b="1" i="0" dirty="0">
                <a:solidFill>
                  <a:schemeClr val="accent5">
                    <a:lumMod val="75000"/>
                  </a:schemeClr>
                </a:solidFill>
                <a:latin typeface="Aptos"/>
              </a:rPr>
              <a:t> Retail • Sales • Data Warehouse • Star Schema • Trend Analysis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DDF0477D-757B-F1E4-B414-6935779C6A90}"/>
              </a:ext>
            </a:extLst>
          </p:cNvPr>
          <p:cNvSpPr/>
          <p:nvPr/>
        </p:nvSpPr>
        <p:spPr>
          <a:xfrm>
            <a:off x="4114800" y="3876039"/>
            <a:ext cx="274320" cy="17475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A20267E-C379-9E8B-9B4A-B951760A26F6}"/>
              </a:ext>
            </a:extLst>
          </p:cNvPr>
          <p:cNvSpPr/>
          <p:nvPr/>
        </p:nvSpPr>
        <p:spPr>
          <a:xfrm>
            <a:off x="7772400" y="3876039"/>
            <a:ext cx="274320" cy="174752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572464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 dirty="0">
                <a:solidFill>
                  <a:srgbClr val="1D2748"/>
                </a:solidFill>
                <a:latin typeface="Aptos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515600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dirty="0">
                <a:solidFill>
                  <a:srgbClr val="1D2748"/>
                </a:solidFill>
                <a:latin typeface="Aptos"/>
              </a:rPr>
              <a:t>When each retail branch maintains sales data separately, managers may struggle to get a consistent, consolidated view of business performance.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3429000" cy="201168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295144"/>
            <a:ext cx="31089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Data is scattered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3108960" cy="1399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2F3442"/>
                </a:solidFill>
                <a:latin typeface="Aptos"/>
              </a:rPr>
              <a:t>Different branch files and formats make combined analysis time-consuming.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48840"/>
            <a:ext cx="3429000" cy="201168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2295144"/>
            <a:ext cx="31089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Manual 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670048"/>
            <a:ext cx="3108960" cy="510909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 dirty="0">
                <a:solidFill>
                  <a:srgbClr val="2F3442"/>
                </a:solidFill>
                <a:latin typeface="Aptos"/>
              </a:rPr>
              <a:t>Repeated cleaning and report preparation can delay insights.</a:t>
            </a:r>
            <a:r>
              <a:rPr lang="en-US" sz="1300" b="0" i="0" dirty="0">
                <a:solidFill>
                  <a:srgbClr val="2F3442"/>
                </a:solidFill>
                <a:latin typeface="Aptos"/>
              </a:rPr>
              <a:t> </a:t>
            </a:r>
            <a:endParaRPr sz="1300" b="0" i="0" dirty="0">
              <a:solidFill>
                <a:srgbClr val="2F3442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01000" y="2148840"/>
            <a:ext cx="3429000" cy="201168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83879" y="2295144"/>
            <a:ext cx="310896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Limited comparisons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670048"/>
            <a:ext cx="3108960" cy="139903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 dirty="0">
                <a:solidFill>
                  <a:srgbClr val="2F3442"/>
                </a:solidFill>
                <a:latin typeface="Aptos"/>
              </a:rPr>
              <a:t>Comparing sales across branches, products and months is harder without a common model.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00600"/>
            <a:ext cx="10241280" cy="38779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 dirty="0">
                <a:solidFill>
                  <a:schemeClr val="accent1">
                    <a:lumMod val="75000"/>
                  </a:schemeClr>
                </a:solidFill>
                <a:latin typeface="Aptos"/>
              </a:rPr>
              <a:t>Need: </a:t>
            </a:r>
            <a:r>
              <a:rPr lang="en-US" sz="1800" b="1" i="0" dirty="0">
                <a:solidFill>
                  <a:schemeClr val="accent1">
                    <a:lumMod val="75000"/>
                  </a:schemeClr>
                </a:solidFill>
                <a:latin typeface="Aptos"/>
              </a:rPr>
              <a:t>A</a:t>
            </a:r>
            <a:r>
              <a:rPr sz="1800" b="1" i="0" dirty="0">
                <a:solidFill>
                  <a:schemeClr val="accent1">
                    <a:lumMod val="75000"/>
                  </a:schemeClr>
                </a:solidFill>
                <a:latin typeface="Aptos"/>
              </a:rPr>
              <a:t> reliable pipeline that standardizes, consolidates and visualizes multi-branch sales data.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A6F68B85-A3AD-BD66-E749-323D38EC9B25}"/>
              </a:ext>
            </a:extLst>
          </p:cNvPr>
          <p:cNvSpPr/>
          <p:nvPr/>
        </p:nvSpPr>
        <p:spPr>
          <a:xfrm>
            <a:off x="4206240" y="2959608"/>
            <a:ext cx="205740" cy="19710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AAD420AB-6A1D-8ADE-4EC0-5F6C8DDC0A7A}"/>
              </a:ext>
            </a:extLst>
          </p:cNvPr>
          <p:cNvSpPr/>
          <p:nvPr/>
        </p:nvSpPr>
        <p:spPr>
          <a:xfrm>
            <a:off x="7795260" y="2959608"/>
            <a:ext cx="205740" cy="197104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572464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 dirty="0">
                <a:solidFill>
                  <a:srgbClr val="1D2748"/>
                </a:solidFill>
                <a:latin typeface="Aptos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44168"/>
            <a:ext cx="50292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216152"/>
            <a:ext cx="2240280" cy="418576"/>
          </a:xfrm>
          <a:prstGeom prst="rect">
            <a:avLst/>
          </a:prstGeom>
          <a:noFill/>
        </p:spPr>
        <p:txBody>
          <a:bodyPr wrap="square" lIns="54864" tIns="54864" rIns="54864" bIns="54864" anchor="b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dirty="0">
                <a:solidFill>
                  <a:srgbClr val="1D2748"/>
                </a:solidFill>
                <a:latin typeface="Aptos"/>
              </a:rPr>
              <a:t>Collect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250619"/>
            <a:ext cx="71323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 dirty="0">
                <a:solidFill>
                  <a:srgbClr val="2F3442"/>
                </a:solidFill>
                <a:latin typeface="Aptos"/>
              </a:rPr>
              <a:t>Use POS transaction exports as the source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176272"/>
            <a:ext cx="2240280" cy="4185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dirty="0">
                <a:solidFill>
                  <a:srgbClr val="1D2748"/>
                </a:solidFill>
                <a:latin typeface="Aptos"/>
              </a:rPr>
              <a:t>Clean &amp; 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235701"/>
            <a:ext cx="71323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 dirty="0">
                <a:solidFill>
                  <a:srgbClr val="2F3442"/>
                </a:solidFill>
                <a:latin typeface="Aptos"/>
              </a:rPr>
              <a:t>Prepare consistent, analysis-ready records using Python and Pandas.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64408"/>
            <a:ext cx="50292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3104442"/>
            <a:ext cx="2240280" cy="4185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dirty="0">
                <a:solidFill>
                  <a:srgbClr val="1D2748"/>
                </a:solidFill>
                <a:latin typeface="Aptos"/>
              </a:rPr>
              <a:t>Consolidate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113525"/>
            <a:ext cx="71323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 dirty="0">
                <a:solidFill>
                  <a:srgbClr val="2F3442"/>
                </a:solidFill>
                <a:latin typeface="Aptos"/>
              </a:rPr>
              <a:t>Store fact and dimension data in a MySQL star-schema warehouse.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224528"/>
            <a:ext cx="50292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096512"/>
            <a:ext cx="2240280" cy="4185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dirty="0">
                <a:solidFill>
                  <a:srgbClr val="1D2748"/>
                </a:solidFill>
                <a:latin typeface="Aptos"/>
              </a:rPr>
              <a:t>Analyze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122018"/>
            <a:ext cx="71323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 dirty="0">
                <a:solidFill>
                  <a:srgbClr val="2F3442"/>
                </a:solidFill>
                <a:latin typeface="Aptos"/>
              </a:rPr>
              <a:t>Support time, branch, product and profitability comparisons.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5056632"/>
            <a:ext cx="2240280" cy="418576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 dirty="0">
                <a:solidFill>
                  <a:srgbClr val="1D2748"/>
                </a:solidFill>
                <a:latin typeface="Aptos"/>
              </a:rPr>
              <a:t>Visualize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5107599"/>
            <a:ext cx="71323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 dirty="0">
                <a:solidFill>
                  <a:srgbClr val="2F3442"/>
                </a:solidFill>
                <a:latin typeface="Aptos"/>
              </a:rPr>
              <a:t>Present key metrics and trends through a Power BI dashboard.</a:t>
            </a:r>
          </a:p>
        </p:txBody>
      </p:sp>
      <p:sp>
        <p:nvSpPr>
          <p:cNvPr id="26" name="Arrow: Chevron 25">
            <a:extLst>
              <a:ext uri="{FF2B5EF4-FFF2-40B4-BE49-F238E27FC236}">
                <a16:creationId xmlns:a16="http://schemas.microsoft.com/office/drawing/2014/main" id="{4ABBC34A-47A9-9E66-7C83-7D8B95D18F3E}"/>
              </a:ext>
            </a:extLst>
          </p:cNvPr>
          <p:cNvSpPr/>
          <p:nvPr/>
        </p:nvSpPr>
        <p:spPr>
          <a:xfrm>
            <a:off x="1371600" y="1204240"/>
            <a:ext cx="184616" cy="389584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9F438B53-B7BB-10F8-9EFD-44CFBB7A7947}"/>
              </a:ext>
            </a:extLst>
          </p:cNvPr>
          <p:cNvSpPr/>
          <p:nvPr/>
        </p:nvSpPr>
        <p:spPr>
          <a:xfrm>
            <a:off x="1332632" y="2175462"/>
            <a:ext cx="184616" cy="389584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30" name="Arrow: Chevron 29">
            <a:extLst>
              <a:ext uri="{FF2B5EF4-FFF2-40B4-BE49-F238E27FC236}">
                <a16:creationId xmlns:a16="http://schemas.microsoft.com/office/drawing/2014/main" id="{D52C0BB3-344D-E98F-4946-80E96041908A}"/>
              </a:ext>
            </a:extLst>
          </p:cNvPr>
          <p:cNvSpPr/>
          <p:nvPr/>
        </p:nvSpPr>
        <p:spPr>
          <a:xfrm>
            <a:off x="1318549" y="5048144"/>
            <a:ext cx="167060" cy="389584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32" name="Arrow: Chevron 31">
            <a:extLst>
              <a:ext uri="{FF2B5EF4-FFF2-40B4-BE49-F238E27FC236}">
                <a16:creationId xmlns:a16="http://schemas.microsoft.com/office/drawing/2014/main" id="{626D04E7-8990-BE53-B42B-E62B106E3F95}"/>
              </a:ext>
            </a:extLst>
          </p:cNvPr>
          <p:cNvSpPr/>
          <p:nvPr/>
        </p:nvSpPr>
        <p:spPr>
          <a:xfrm>
            <a:off x="1302537" y="4096512"/>
            <a:ext cx="184616" cy="389584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34" name="Arrow: Chevron 33">
            <a:extLst>
              <a:ext uri="{FF2B5EF4-FFF2-40B4-BE49-F238E27FC236}">
                <a16:creationId xmlns:a16="http://schemas.microsoft.com/office/drawing/2014/main" id="{DFD42DD5-4F26-3A42-1D2D-682AE13DC7B7}"/>
              </a:ext>
            </a:extLst>
          </p:cNvPr>
          <p:cNvSpPr/>
          <p:nvPr/>
        </p:nvSpPr>
        <p:spPr>
          <a:xfrm>
            <a:off x="1318549" y="3092804"/>
            <a:ext cx="184616" cy="389584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D2748"/>
                </a:solidFill>
                <a:latin typeface="Aptos"/>
              </a:rPr>
              <a:t>Existing Approach vs Proposed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74920" cy="3474720"/>
          </a:xfrm>
          <a:prstGeom prst="roundRect">
            <a:avLst/>
          </a:prstGeom>
          <a:solidFill>
            <a:srgbClr val="D4ECBA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472184"/>
            <a:ext cx="4754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D2748"/>
                </a:solidFill>
                <a:latin typeface="Aptos"/>
              </a:rPr>
              <a:t>Common manual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47088"/>
            <a:ext cx="4754880" cy="286207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F3442"/>
                </a:solidFill>
                <a:latin typeface="Aptos"/>
              </a:rPr>
              <a:t>• Branch files stored separately
• Repeated data cleaning
• Manual spreadsheet consolidation
• Reports may be delayed or inconsistent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1325880"/>
            <a:ext cx="5074920" cy="3474720"/>
          </a:xfrm>
          <a:prstGeom prst="roundRect">
            <a:avLst/>
          </a:prstGeom>
          <a:solidFill>
            <a:srgbClr val="D4ECBA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472184"/>
            <a:ext cx="4754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D2748"/>
                </a:solidFill>
                <a:latin typeface="Aptos"/>
              </a:rPr>
              <a:t>Proposed 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847088"/>
            <a:ext cx="4754880" cy="286207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F3442"/>
                </a:solidFill>
                <a:latin typeface="Aptos"/>
              </a:rPr>
              <a:t>• Python/Pandas ETL process
• Central MySQL star-schema warehouse
• SQL and OLAP-style analysis
• Interactive Power BI reporting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10241280" cy="38779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 i="0" dirty="0">
                <a:solidFill>
                  <a:srgbClr val="92D050"/>
                </a:solidFill>
                <a:latin typeface="Aptos"/>
              </a:rPr>
              <a:t>Outcome: a repeatable data-to-dashboard workflow for multi-branch sales analysis.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 dirty="0">
                <a:solidFill>
                  <a:srgbClr val="1D2748"/>
                </a:solidFill>
                <a:latin typeface="Aptos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04849" y="5770905"/>
            <a:ext cx="10241280" cy="38779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b="0" i="0" dirty="0">
                <a:solidFill>
                  <a:srgbClr val="696F80"/>
                </a:solidFill>
                <a:latin typeface="Aptos"/>
              </a:rPr>
              <a:t>The architecture separates data preparation, storage, analysis and visualization.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4AAB68C8-FE29-6E0F-F282-FBC685A9F28C}"/>
              </a:ext>
            </a:extLst>
          </p:cNvPr>
          <p:cNvGrpSpPr/>
          <p:nvPr/>
        </p:nvGrpSpPr>
        <p:grpSpPr>
          <a:xfrm>
            <a:off x="2150286" y="1027917"/>
            <a:ext cx="7891427" cy="4237695"/>
            <a:chOff x="1021079" y="864657"/>
            <a:chExt cx="7891427" cy="4237695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4703176-3D4A-1929-EBE3-D16AAD6381A9}"/>
                </a:ext>
              </a:extLst>
            </p:cNvPr>
            <p:cNvGrpSpPr/>
            <p:nvPr/>
          </p:nvGrpSpPr>
          <p:grpSpPr>
            <a:xfrm>
              <a:off x="2450227" y="864657"/>
              <a:ext cx="1965960" cy="1051560"/>
              <a:chOff x="621427" y="1278626"/>
              <a:chExt cx="1965960" cy="1051560"/>
            </a:xfrm>
          </p:grpSpPr>
          <p:sp>
            <p:nvSpPr>
              <p:cNvPr id="6" name="Rounded Rectangle 5"/>
              <p:cNvSpPr/>
              <p:nvPr/>
            </p:nvSpPr>
            <p:spPr>
              <a:xfrm>
                <a:off x="621427" y="1278626"/>
                <a:ext cx="1965960" cy="1051560"/>
              </a:xfrm>
              <a:prstGeom prst="roundRect">
                <a:avLst/>
              </a:prstGeom>
              <a:solidFill>
                <a:srgbClr val="FFFFFF"/>
              </a:solidFill>
              <a:ln w="22860">
                <a:solidFill>
                  <a:srgbClr val="705BA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7" name="TextBox 6"/>
              <p:cNvSpPr txBox="1"/>
              <p:nvPr/>
            </p:nvSpPr>
            <p:spPr>
              <a:xfrm>
                <a:off x="667512" y="1527972"/>
                <a:ext cx="1819656" cy="310896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500" b="1" i="0" dirty="0">
                    <a:solidFill>
                      <a:srgbClr val="1D2748"/>
                    </a:solidFill>
                    <a:latin typeface="Aptos"/>
                  </a:rPr>
                  <a:t>POS exports</a:t>
                </a: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694579" y="1904847"/>
                <a:ext cx="1819656" cy="274320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200" b="0" i="0" dirty="0">
                    <a:solidFill>
                      <a:srgbClr val="696F80"/>
                    </a:solidFill>
                    <a:latin typeface="Aptos"/>
                  </a:rPr>
                  <a:t>CSV / Excel</a:t>
                </a:r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6E4504A7-B066-9822-FFB2-9C419245BEA2}"/>
                </a:ext>
              </a:extLst>
            </p:cNvPr>
            <p:cNvGrpSpPr/>
            <p:nvPr/>
          </p:nvGrpSpPr>
          <p:grpSpPr>
            <a:xfrm>
              <a:off x="2423160" y="2418067"/>
              <a:ext cx="1965960" cy="1051560"/>
              <a:chOff x="2926080" y="1508760"/>
              <a:chExt cx="1965960" cy="1051560"/>
            </a:xfrm>
          </p:grpSpPr>
          <p:sp>
            <p:nvSpPr>
              <p:cNvPr id="9" name="Rounded Rectangle 8"/>
              <p:cNvSpPr/>
              <p:nvPr/>
            </p:nvSpPr>
            <p:spPr>
              <a:xfrm>
                <a:off x="2926080" y="1508760"/>
                <a:ext cx="1965960" cy="1051560"/>
              </a:xfrm>
              <a:prstGeom prst="roundRect">
                <a:avLst/>
              </a:prstGeom>
              <a:solidFill>
                <a:srgbClr val="FFFFFF"/>
              </a:solidFill>
              <a:ln w="22860">
                <a:solidFill>
                  <a:srgbClr val="389496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2999232" y="1664207"/>
                <a:ext cx="1819656" cy="310896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500" b="1" i="0" dirty="0">
                    <a:solidFill>
                      <a:srgbClr val="1D2748"/>
                    </a:solidFill>
                    <a:latin typeface="Aptos"/>
                  </a:rPr>
                  <a:t>ETL processing</a:t>
                </a:r>
              </a:p>
            </p:txBody>
          </p:sp>
          <p:sp>
            <p:nvSpPr>
              <p:cNvPr id="11" name="TextBox 10"/>
              <p:cNvSpPr txBox="1"/>
              <p:nvPr/>
            </p:nvSpPr>
            <p:spPr>
              <a:xfrm>
                <a:off x="2999232" y="2057400"/>
                <a:ext cx="1819656" cy="274320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200" b="0" i="0" dirty="0">
                    <a:solidFill>
                      <a:srgbClr val="696F80"/>
                    </a:solidFill>
                    <a:latin typeface="Aptos"/>
                  </a:rPr>
                  <a:t>Python + Pandas</a:t>
                </a:r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51F22805-7F11-D72C-FF73-1B3733BD7FB5}"/>
                </a:ext>
              </a:extLst>
            </p:cNvPr>
            <p:cNvGrpSpPr/>
            <p:nvPr/>
          </p:nvGrpSpPr>
          <p:grpSpPr>
            <a:xfrm>
              <a:off x="5747005" y="2440927"/>
              <a:ext cx="1965960" cy="1051560"/>
              <a:chOff x="5257800" y="1508760"/>
              <a:chExt cx="1965960" cy="1051560"/>
            </a:xfrm>
          </p:grpSpPr>
          <p:sp>
            <p:nvSpPr>
              <p:cNvPr id="12" name="Rounded Rectangle 11"/>
              <p:cNvSpPr/>
              <p:nvPr/>
            </p:nvSpPr>
            <p:spPr>
              <a:xfrm>
                <a:off x="5257800" y="1508760"/>
                <a:ext cx="1965960" cy="1051560"/>
              </a:xfrm>
              <a:prstGeom prst="roundRect">
                <a:avLst/>
              </a:prstGeom>
              <a:solidFill>
                <a:srgbClr val="FFFFFF"/>
              </a:solidFill>
              <a:ln w="22860">
                <a:solidFill>
                  <a:srgbClr val="DEA949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5330952" y="1664207"/>
                <a:ext cx="1819656" cy="310896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500" b="1" i="0" dirty="0">
                    <a:solidFill>
                      <a:srgbClr val="1D2748"/>
                    </a:solidFill>
                    <a:latin typeface="Aptos"/>
                  </a:rPr>
                  <a:t>Data warehouse</a:t>
                </a: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5330952" y="2057400"/>
                <a:ext cx="1819656" cy="274320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200" b="0" i="0">
                    <a:solidFill>
                      <a:srgbClr val="696F80"/>
                    </a:solidFill>
                    <a:latin typeface="Aptos"/>
                  </a:rPr>
                  <a:t>MySQL</a:t>
                </a:r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1DBE78C-3A6D-EBA9-F986-1873331269F1}"/>
                </a:ext>
              </a:extLst>
            </p:cNvPr>
            <p:cNvGrpSpPr/>
            <p:nvPr/>
          </p:nvGrpSpPr>
          <p:grpSpPr>
            <a:xfrm>
              <a:off x="5750363" y="4050792"/>
              <a:ext cx="1965960" cy="1051560"/>
              <a:chOff x="7589520" y="1508760"/>
              <a:chExt cx="1965960" cy="1051560"/>
            </a:xfrm>
          </p:grpSpPr>
          <p:sp>
            <p:nvSpPr>
              <p:cNvPr id="15" name="Rounded Rectangle 14"/>
              <p:cNvSpPr/>
              <p:nvPr/>
            </p:nvSpPr>
            <p:spPr>
              <a:xfrm>
                <a:off x="7589520" y="1508760"/>
                <a:ext cx="1965960" cy="1051560"/>
              </a:xfrm>
              <a:prstGeom prst="roundRect">
                <a:avLst/>
              </a:prstGeom>
              <a:solidFill>
                <a:srgbClr val="FFFFFF"/>
              </a:solidFill>
              <a:ln w="22860">
                <a:solidFill>
                  <a:srgbClr val="4D927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TextBox 15"/>
              <p:cNvSpPr txBox="1"/>
              <p:nvPr/>
            </p:nvSpPr>
            <p:spPr>
              <a:xfrm>
                <a:off x="7662672" y="1664207"/>
                <a:ext cx="1819656" cy="310896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500" b="1" i="0">
                    <a:solidFill>
                      <a:srgbClr val="1D2748"/>
                    </a:solidFill>
                    <a:latin typeface="Aptos"/>
                  </a:rPr>
                  <a:t>Analysis layer</a:t>
                </a:r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7662672" y="2057400"/>
                <a:ext cx="1819656" cy="274320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200" b="0" i="0">
                    <a:solidFill>
                      <a:srgbClr val="696F80"/>
                    </a:solidFill>
                    <a:latin typeface="Aptos"/>
                  </a:rPr>
                  <a:t>SQL / OLAP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DA16D63-D0C1-4968-C44F-8490E25F7A90}"/>
                </a:ext>
              </a:extLst>
            </p:cNvPr>
            <p:cNvGrpSpPr/>
            <p:nvPr/>
          </p:nvGrpSpPr>
          <p:grpSpPr>
            <a:xfrm>
              <a:off x="2441449" y="4046740"/>
              <a:ext cx="1874519" cy="1051560"/>
              <a:chOff x="9738360" y="1508760"/>
              <a:chExt cx="1874519" cy="1051560"/>
            </a:xfrm>
          </p:grpSpPr>
          <p:sp>
            <p:nvSpPr>
              <p:cNvPr id="18" name="Rounded Rectangle 17"/>
              <p:cNvSpPr/>
              <p:nvPr/>
            </p:nvSpPr>
            <p:spPr>
              <a:xfrm>
                <a:off x="9738360" y="1508760"/>
                <a:ext cx="1874519" cy="1051560"/>
              </a:xfrm>
              <a:prstGeom prst="roundRect">
                <a:avLst/>
              </a:prstGeom>
              <a:solidFill>
                <a:srgbClr val="FFFFFF"/>
              </a:solidFill>
              <a:ln w="22860">
                <a:solidFill>
                  <a:srgbClr val="1D2748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9811512" y="1664207"/>
                <a:ext cx="1728216" cy="310896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500" b="1" i="0" dirty="0">
                    <a:solidFill>
                      <a:srgbClr val="1D2748"/>
                    </a:solidFill>
                    <a:latin typeface="Aptos"/>
                  </a:rPr>
                  <a:t>Dashboard</a:t>
                </a:r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9811512" y="2057400"/>
                <a:ext cx="1728216" cy="274320"/>
              </a:xfrm>
              <a:prstGeom prst="rect">
                <a:avLst/>
              </a:prstGeom>
              <a:noFill/>
            </p:spPr>
            <p:txBody>
              <a:bodyPr wrap="square" lIns="54864" tIns="54864" rIns="54864" bIns="54864" anchor="t">
                <a:spAutoFit/>
              </a:bodyPr>
              <a:lstStyle/>
              <a:p>
                <a:pPr algn="ctr">
                  <a:spcAft>
                    <a:spcPts val="200"/>
                  </a:spcAft>
                </a:pPr>
                <a:r>
                  <a:rPr sz="1200" b="0" i="0">
                    <a:solidFill>
                      <a:srgbClr val="696F80"/>
                    </a:solidFill>
                    <a:latin typeface="Aptos"/>
                  </a:rPr>
                  <a:t>Power BI</a:t>
                </a:r>
              </a:p>
            </p:txBody>
          </p:sp>
        </p:grpSp>
        <p:sp>
          <p:nvSpPr>
            <p:cNvPr id="51" name="Arrow: Curved Right 50">
              <a:extLst>
                <a:ext uri="{FF2B5EF4-FFF2-40B4-BE49-F238E27FC236}">
                  <a16:creationId xmlns:a16="http://schemas.microsoft.com/office/drawing/2014/main" id="{99FAFC34-F4D0-68A0-50D2-B2E422BD6433}"/>
                </a:ext>
              </a:extLst>
            </p:cNvPr>
            <p:cNvSpPr/>
            <p:nvPr/>
          </p:nvSpPr>
          <p:spPr>
            <a:xfrm>
              <a:off x="1021079" y="1260566"/>
              <a:ext cx="1402081" cy="2003321"/>
            </a:xfrm>
            <a:prstGeom prst="curved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>
                <a:solidFill>
                  <a:schemeClr val="tx1"/>
                </a:solidFill>
              </a:endParaRPr>
            </a:p>
          </p:txBody>
        </p:sp>
        <p:sp>
          <p:nvSpPr>
            <p:cNvPr id="54" name="Arrow: Right 53">
              <a:extLst>
                <a:ext uri="{FF2B5EF4-FFF2-40B4-BE49-F238E27FC236}">
                  <a16:creationId xmlns:a16="http://schemas.microsoft.com/office/drawing/2014/main" id="{5654319B-487B-5CC2-33A8-C462A2E81CBF}"/>
                </a:ext>
              </a:extLst>
            </p:cNvPr>
            <p:cNvSpPr/>
            <p:nvPr/>
          </p:nvSpPr>
          <p:spPr>
            <a:xfrm>
              <a:off x="4389120" y="2696669"/>
              <a:ext cx="1357885" cy="512065"/>
            </a:xfrm>
            <a:prstGeom prst="righ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5" name="Arrow: Curved Left 54">
              <a:extLst>
                <a:ext uri="{FF2B5EF4-FFF2-40B4-BE49-F238E27FC236}">
                  <a16:creationId xmlns:a16="http://schemas.microsoft.com/office/drawing/2014/main" id="{2A005738-7466-D445-3A29-CE598053CB44}"/>
                </a:ext>
              </a:extLst>
            </p:cNvPr>
            <p:cNvSpPr/>
            <p:nvPr/>
          </p:nvSpPr>
          <p:spPr>
            <a:xfrm>
              <a:off x="7716323" y="2907270"/>
              <a:ext cx="1196183" cy="1966482"/>
            </a:xfrm>
            <a:prstGeom prst="curved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>
                <a:solidFill>
                  <a:schemeClr val="tx1"/>
                </a:solidFill>
              </a:endParaRPr>
            </a:p>
          </p:txBody>
        </p:sp>
        <p:sp>
          <p:nvSpPr>
            <p:cNvPr id="56" name="Arrow: Left 55">
              <a:extLst>
                <a:ext uri="{FF2B5EF4-FFF2-40B4-BE49-F238E27FC236}">
                  <a16:creationId xmlns:a16="http://schemas.microsoft.com/office/drawing/2014/main" id="{9DAEB12F-064C-4E11-0727-A157993A0FA0}"/>
                </a:ext>
              </a:extLst>
            </p:cNvPr>
            <p:cNvSpPr/>
            <p:nvPr/>
          </p:nvSpPr>
          <p:spPr>
            <a:xfrm>
              <a:off x="4315968" y="4357635"/>
              <a:ext cx="1431037" cy="473001"/>
            </a:xfrm>
            <a:prstGeom prst="left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D2748"/>
                </a:solidFill>
                <a:latin typeface="Aptos"/>
              </a:rPr>
              <a:t>Methodology / ETL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383280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73152" cy="1463040"/>
          </a:xfrm>
          <a:prstGeom prst="rect">
            <a:avLst/>
          </a:prstGeom>
          <a:solidFill>
            <a:srgbClr val="70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63624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Extract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38528"/>
            <a:ext cx="3063240" cy="8503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F3442"/>
                </a:solidFill>
                <a:latin typeface="Aptos"/>
              </a:rPr>
              <a:t>Read POS data from CSV/Excel exports.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417320"/>
            <a:ext cx="3383280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0" y="1417320"/>
            <a:ext cx="73152" cy="1463040"/>
          </a:xfrm>
          <a:prstGeom prst="rect">
            <a:avLst/>
          </a:prstGeom>
          <a:solidFill>
            <a:srgbClr val="389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0" y="1563624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Transform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38528"/>
            <a:ext cx="3063240" cy="8503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F3442"/>
                </a:solidFill>
                <a:latin typeface="Aptos"/>
              </a:rPr>
              <a:t>Clean missing/inconsistent values; standardize formats and derive measures.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1417320"/>
            <a:ext cx="3383280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412480" y="1417320"/>
            <a:ext cx="73152" cy="1463040"/>
          </a:xfrm>
          <a:prstGeom prst="rect">
            <a:avLst/>
          </a:prstGeom>
          <a:solidFill>
            <a:srgbClr val="DEA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0" y="1563624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938528"/>
            <a:ext cx="3063240" cy="8503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F3442"/>
                </a:solidFill>
                <a:latin typeface="Aptos"/>
              </a:rPr>
              <a:t>Load dimension and fact records into MySQL.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474720"/>
            <a:ext cx="3383280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1520" y="3474720"/>
            <a:ext cx="73152" cy="1463040"/>
          </a:xfrm>
          <a:prstGeom prst="rect">
            <a:avLst/>
          </a:prstGeom>
          <a:solidFill>
            <a:srgbClr val="4D92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3621024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995928"/>
            <a:ext cx="3063240" cy="8503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F3442"/>
                </a:solidFill>
                <a:latin typeface="Aptos"/>
              </a:rPr>
              <a:t>Organize data using a star schema.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474720"/>
            <a:ext cx="3383280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0" y="3474720"/>
            <a:ext cx="73152" cy="1463040"/>
          </a:xfrm>
          <a:prstGeom prst="rect">
            <a:avLst/>
          </a:prstGeom>
          <a:solidFill>
            <a:srgbClr val="1D2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0" y="3621024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Analyze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995928"/>
            <a:ext cx="3063240" cy="8503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F3442"/>
                </a:solidFill>
                <a:latin typeface="Aptos"/>
              </a:rPr>
              <a:t>Use SQL queries and OLAP-style grouping for trend comparisons.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0" y="3474720"/>
            <a:ext cx="3383280" cy="14630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412480" y="3474720"/>
            <a:ext cx="73152" cy="1463040"/>
          </a:xfrm>
          <a:prstGeom prst="rect">
            <a:avLst/>
          </a:prstGeom>
          <a:solidFill>
            <a:srgbClr val="BE5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621024"/>
            <a:ext cx="306324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D2748"/>
                </a:solidFill>
                <a:latin typeface="Aptos"/>
              </a:rPr>
              <a:t>Visualize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3995928"/>
            <a:ext cx="3063240" cy="85039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F3442"/>
                </a:solidFill>
                <a:latin typeface="Aptos"/>
              </a:rPr>
              <a:t>Build Power BI pages with KPIs, comparisons and trends.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724145"/>
            <a:ext cx="10241280" cy="38779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b="1" i="0" dirty="0">
                <a:solidFill>
                  <a:srgbClr val="705BA8"/>
                </a:solidFill>
                <a:latin typeface="Aptos"/>
              </a:rPr>
              <a:t>ETL = Extract, Transform, Load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D2748"/>
                </a:solidFill>
                <a:latin typeface="Aptos"/>
              </a:rPr>
              <a:t>Star-Schema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331720"/>
            <a:ext cx="3291840" cy="1828800"/>
          </a:xfrm>
          <a:prstGeom prst="roundRect">
            <a:avLst/>
          </a:prstGeom>
          <a:solidFill>
            <a:srgbClr val="1D2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617720" y="2542032"/>
            <a:ext cx="283464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FFFFF"/>
                </a:solidFill>
                <a:latin typeface="Aptos"/>
              </a:rPr>
              <a:t>FACT_SALES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999232"/>
            <a:ext cx="2834640" cy="9144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FFFFFF"/>
                </a:solidFill>
                <a:latin typeface="Aptos"/>
              </a:rPr>
              <a:t>date_key • product_key
branch_key • customer_key
quantity • net_sales • profit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325880"/>
            <a:ext cx="2560320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70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0392" y="1490472"/>
            <a:ext cx="2414015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D2748"/>
                </a:solidFill>
                <a:latin typeface="Aptos"/>
              </a:rPr>
              <a:t>DIM_DATE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847088"/>
            <a:ext cx="2340863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2F3442"/>
                </a:solidFill>
                <a:latin typeface="Aptos"/>
              </a:rPr>
              <a:t>Date, month, quarter, year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1325880"/>
            <a:ext cx="2560320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89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42832" y="1490472"/>
            <a:ext cx="2414015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D2748"/>
                </a:solidFill>
                <a:latin typeface="Aptos"/>
              </a:rPr>
              <a:t>DIM_PRODUCT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7" y="1847088"/>
            <a:ext cx="2340863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2F3442"/>
                </a:solidFill>
                <a:latin typeface="Aptos"/>
              </a:rPr>
              <a:t>Product, category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43400"/>
            <a:ext cx="2560320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EA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0392" y="4507992"/>
            <a:ext cx="2414015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D2748"/>
                </a:solidFill>
                <a:latin typeface="Aptos"/>
              </a:rPr>
              <a:t>DIM_BRANCH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4864608"/>
            <a:ext cx="2340863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2F3442"/>
                </a:solidFill>
                <a:latin typeface="Aptos"/>
              </a:rPr>
              <a:t>Branch, city,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4343400"/>
            <a:ext cx="2560320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D92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42832" y="4507992"/>
            <a:ext cx="2414015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D2748"/>
                </a:solidFill>
                <a:latin typeface="Aptos"/>
              </a:rPr>
              <a:t>DIM_CUSTOMER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9407" y="4864608"/>
            <a:ext cx="2340863" cy="38404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2F3442"/>
                </a:solidFill>
                <a:latin typeface="Aptos"/>
              </a:rPr>
              <a:t>Customer, segment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37560" y="1920240"/>
            <a:ext cx="1051560" cy="685800"/>
          </a:xfrm>
          <a:prstGeom prst="line">
            <a:avLst/>
          </a:prstGeom>
          <a:ln w="19050">
            <a:solidFill>
              <a:srgbClr val="70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7680960" y="1920240"/>
            <a:ext cx="1188720" cy="685800"/>
          </a:xfrm>
          <a:prstGeom prst="line">
            <a:avLst/>
          </a:prstGeom>
          <a:ln w="19050">
            <a:solidFill>
              <a:srgbClr val="3894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337560" y="3794760"/>
            <a:ext cx="1051560" cy="960120"/>
          </a:xfrm>
          <a:prstGeom prst="line">
            <a:avLst/>
          </a:prstGeom>
          <a:ln w="19050">
            <a:solidFill>
              <a:srgbClr val="DEA9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7680960" y="3794760"/>
            <a:ext cx="1188720" cy="960120"/>
          </a:xfrm>
          <a:prstGeom prst="line">
            <a:avLst/>
          </a:prstGeom>
          <a:ln w="19050">
            <a:solidFill>
              <a:srgbClr val="4D9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905245" y="5749701"/>
            <a:ext cx="6580208" cy="38779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b="0" i="0" dirty="0">
                <a:solidFill>
                  <a:srgbClr val="696F80"/>
                </a:solidFill>
                <a:latin typeface="Aptos"/>
              </a:rPr>
              <a:t>Dimensions describe the facts; </a:t>
            </a:r>
            <a:r>
              <a:rPr lang="en-US" dirty="0">
                <a:solidFill>
                  <a:srgbClr val="696F80"/>
                </a:solidFill>
                <a:latin typeface="Aptos"/>
              </a:rPr>
              <a:t> </a:t>
            </a:r>
            <a:r>
              <a:rPr b="0" i="0" dirty="0">
                <a:solidFill>
                  <a:srgbClr val="696F80"/>
                </a:solidFill>
                <a:latin typeface="Aptos"/>
              </a:rPr>
              <a:t>measures support aggregation.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 dirty="0">
                <a:solidFill>
                  <a:srgbClr val="1D2748"/>
                </a:solidFill>
                <a:latin typeface="Aptos"/>
              </a:rPr>
              <a:t>Implementation &amp;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1335024"/>
            <a:ext cx="6675120" cy="357021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endParaRPr sz="1600" b="0" i="0" dirty="0">
              <a:solidFill>
                <a:srgbClr val="2F344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77639" y="2084831"/>
            <a:ext cx="6675120" cy="357021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endParaRPr sz="1600" b="0" i="0" dirty="0">
              <a:solidFill>
                <a:srgbClr val="2F3442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977639" y="2834640"/>
            <a:ext cx="6675120" cy="357021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endParaRPr sz="1600" b="0" i="0" dirty="0">
              <a:solidFill>
                <a:srgbClr val="2F3442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977639" y="3584448"/>
            <a:ext cx="6675120" cy="357021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endParaRPr sz="1600" b="0" i="0" dirty="0">
              <a:solidFill>
                <a:srgbClr val="2F3442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956700" y="6012649"/>
            <a:ext cx="10515600" cy="38779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b="0" i="0" dirty="0">
                <a:solidFill>
                  <a:schemeClr val="accent5">
                    <a:lumMod val="75000"/>
                  </a:schemeClr>
                </a:solidFill>
                <a:latin typeface="Aptos"/>
              </a:rPr>
              <a:t>Repository: github.com/HemaHema289205/multi-branch-sales-data-warehouse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6FE358C-F3C4-8CD5-3AC1-0770C0F5BD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4552242"/>
              </p:ext>
            </p:extLst>
          </p:nvPr>
        </p:nvGraphicFramePr>
        <p:xfrm>
          <a:off x="1275144" y="1085410"/>
          <a:ext cx="9641712" cy="4680718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4739769">
                  <a:extLst>
                    <a:ext uri="{9D8B030D-6E8A-4147-A177-3AD203B41FA5}">
                      <a16:colId xmlns:a16="http://schemas.microsoft.com/office/drawing/2014/main" val="124977615"/>
                    </a:ext>
                  </a:extLst>
                </a:gridCol>
                <a:gridCol w="4901943">
                  <a:extLst>
                    <a:ext uri="{9D8B030D-6E8A-4147-A177-3AD203B41FA5}">
                      <a16:colId xmlns:a16="http://schemas.microsoft.com/office/drawing/2014/main" val="1444995112"/>
                    </a:ext>
                  </a:extLst>
                </a:gridCol>
              </a:tblGrid>
              <a:tr h="622042">
                <a:tc>
                  <a:txBody>
                    <a:bodyPr/>
                    <a:lstStyle/>
                    <a:p>
                      <a:r>
                        <a:rPr lang="en-US" dirty="0"/>
                        <a:t>Process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Technology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664086"/>
                  </a:ext>
                </a:extLst>
              </a:tr>
              <a:tr h="5613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i="0" dirty="0">
                          <a:solidFill>
                            <a:srgbClr val="1D2748"/>
                          </a:solidFill>
                          <a:latin typeface="Aptos"/>
                        </a:rPr>
                        <a:t>Data source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lang="fr-FR" sz="1800" b="0" i="0" dirty="0">
                          <a:solidFill>
                            <a:srgbClr val="2F3442"/>
                          </a:solidFill>
                          <a:latin typeface="Aptos"/>
                        </a:rPr>
                        <a:t>POS transaction exports (CSV / Excel)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2097658"/>
                  </a:ext>
                </a:extLst>
              </a:tr>
              <a:tr h="63529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i="0" dirty="0">
                          <a:solidFill>
                            <a:srgbClr val="1D2748"/>
                          </a:solidFill>
                          <a:latin typeface="Aptos"/>
                        </a:rPr>
                        <a:t>Programming &amp; ETL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i="0" dirty="0">
                          <a:solidFill>
                            <a:srgbClr val="2F3442"/>
                          </a:solidFill>
                          <a:latin typeface="Aptos"/>
                        </a:rPr>
                        <a:t>Python, Pandas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2290856"/>
                  </a:ext>
                </a:extLst>
              </a:tr>
              <a:tr h="5613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i="0" dirty="0">
                          <a:solidFill>
                            <a:srgbClr val="1D2748"/>
                          </a:solidFill>
                          <a:latin typeface="Aptos"/>
                        </a:rPr>
                        <a:t>Database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i="0" dirty="0">
                          <a:solidFill>
                            <a:srgbClr val="2F3442"/>
                          </a:solidFill>
                          <a:latin typeface="Aptos"/>
                        </a:rPr>
                        <a:t>MySQL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4869109"/>
                  </a:ext>
                </a:extLst>
              </a:tr>
              <a:tr h="712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i="0" dirty="0">
                          <a:solidFill>
                            <a:srgbClr val="1D2748"/>
                          </a:solidFill>
                          <a:latin typeface="Aptos"/>
                        </a:rPr>
                        <a:t>Analysis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dirty="0">
                          <a:solidFill>
                            <a:srgbClr val="2F3442"/>
                          </a:solidFill>
                          <a:latin typeface="Aptos"/>
                        </a:rPr>
                        <a:t>SQL queries and OLAP-style aggregations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0734393"/>
                  </a:ext>
                </a:extLst>
              </a:tr>
              <a:tr h="712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i="0" dirty="0">
                          <a:solidFill>
                            <a:srgbClr val="1D2748"/>
                          </a:solidFill>
                          <a:latin typeface="Aptos"/>
                        </a:rPr>
                        <a:t>Visualization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i="0" dirty="0">
                          <a:solidFill>
                            <a:srgbClr val="2F3442"/>
                          </a:solidFill>
                          <a:latin typeface="Aptos"/>
                        </a:rPr>
                        <a:t>Microsoft Power BI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8169479"/>
                  </a:ext>
                </a:extLst>
              </a:tr>
              <a:tr h="712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1" i="0" dirty="0">
                          <a:solidFill>
                            <a:srgbClr val="1D2748"/>
                          </a:solidFill>
                          <a:latin typeface="Aptos"/>
                        </a:rPr>
                        <a:t>Version control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800" b="0" i="0" dirty="0">
                          <a:solidFill>
                            <a:srgbClr val="2F3442"/>
                          </a:solidFill>
                          <a:latin typeface="Aptos"/>
                        </a:rPr>
                        <a:t>GitHub repository</a:t>
                      </a:r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951116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 dirty="0">
                <a:solidFill>
                  <a:srgbClr val="1D2748"/>
                </a:solidFill>
                <a:latin typeface="Aptos"/>
              </a:rPr>
              <a:t>Power BI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10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D4E8731-16AD-53DB-5BF2-620DC499AE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04" y="1242923"/>
            <a:ext cx="10929395" cy="5231030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FF07C7B-7249-F5B3-982D-C45E47B659A8}"/>
              </a:ext>
            </a:extLst>
          </p:cNvPr>
          <p:cNvSpPr txBox="1"/>
          <p:nvPr/>
        </p:nvSpPr>
        <p:spPr>
          <a:xfrm>
            <a:off x="636608" y="802555"/>
            <a:ext cx="2412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Executive Overview</a:t>
            </a:r>
            <a:endParaRPr lang="en-IN" b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904EAF-3B18-D48D-5C0F-EC1B463A1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607" y="1018573"/>
            <a:ext cx="10868627" cy="55211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C45577-DD4B-E8E9-0F2B-666396A6B5F6}"/>
              </a:ext>
            </a:extLst>
          </p:cNvPr>
          <p:cNvSpPr txBox="1"/>
          <p:nvPr/>
        </p:nvSpPr>
        <p:spPr>
          <a:xfrm>
            <a:off x="532435" y="394595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Branch Performance</a:t>
            </a:r>
            <a:endParaRPr lang="en-IN" sz="1800" b="1" dirty="0"/>
          </a:p>
        </p:txBody>
      </p:sp>
    </p:spTree>
    <p:extLst>
      <p:ext uri="{BB962C8B-B14F-4D97-AF65-F5344CB8AC3E}">
        <p14:creationId xmlns:p14="http://schemas.microsoft.com/office/powerpoint/2010/main" val="83768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ADFE13-6089-E450-1375-0AE990DCF8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608" y="1157468"/>
            <a:ext cx="11123270" cy="53822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D3479C-A34E-F8AE-F411-BFE50C2D79D8}"/>
              </a:ext>
            </a:extLst>
          </p:cNvPr>
          <p:cNvSpPr txBox="1"/>
          <p:nvPr/>
        </p:nvSpPr>
        <p:spPr>
          <a:xfrm>
            <a:off x="544010" y="469303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Product Analysis</a:t>
            </a:r>
            <a:endParaRPr lang="en-IN" sz="1800" b="1" dirty="0"/>
          </a:p>
        </p:txBody>
      </p:sp>
    </p:spTree>
    <p:extLst>
      <p:ext uri="{BB962C8B-B14F-4D97-AF65-F5344CB8AC3E}">
        <p14:creationId xmlns:p14="http://schemas.microsoft.com/office/powerpoint/2010/main" val="3350231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C9423-3D79-C31F-126A-F8CE4377D32D}"/>
              </a:ext>
            </a:extLst>
          </p:cNvPr>
          <p:cNvSpPr txBox="1"/>
          <p:nvPr/>
        </p:nvSpPr>
        <p:spPr>
          <a:xfrm>
            <a:off x="972272" y="6059214"/>
            <a:ext cx="107297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800" b="0" i="1" dirty="0">
                <a:solidFill>
                  <a:srgbClr val="696F80"/>
                </a:solidFill>
                <a:latin typeface="Aptos"/>
              </a:rPr>
              <a:t>KPI values shown are reported project dataset totals; replace with current dashboard values if they differ.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D2FC59-8C62-A5A7-88B2-6CFA7909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458" y="895722"/>
            <a:ext cx="11088547" cy="51634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92CBC66-07CA-839A-5EC3-8FF6E2E16E39}"/>
              </a:ext>
            </a:extLst>
          </p:cNvPr>
          <p:cNvSpPr txBox="1"/>
          <p:nvPr/>
        </p:nvSpPr>
        <p:spPr>
          <a:xfrm>
            <a:off x="613458" y="429454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Trend Analysis</a:t>
            </a:r>
            <a:endParaRPr lang="en-IN" sz="1800" b="1" dirty="0"/>
          </a:p>
        </p:txBody>
      </p:sp>
    </p:spTree>
    <p:extLst>
      <p:ext uri="{BB962C8B-B14F-4D97-AF65-F5344CB8AC3E}">
        <p14:creationId xmlns:p14="http://schemas.microsoft.com/office/powerpoint/2010/main" val="15394385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D2748"/>
                </a:solidFill>
                <a:latin typeface="Aptos"/>
              </a:rPr>
              <a:t>Results &amp;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32104"/>
            <a:ext cx="914400" cy="54864"/>
          </a:xfrm>
          <a:prstGeom prst="rect">
            <a:avLst/>
          </a:prstGeom>
          <a:solidFill>
            <a:srgbClr val="70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3375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0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64208"/>
            <a:ext cx="3154680" cy="4955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2500" b="1" dirty="0">
                <a:solidFill>
                  <a:srgbClr val="705BA8"/>
                </a:solidFill>
                <a:latin typeface="Aptos"/>
              </a:rPr>
              <a:t>40K</a:t>
            </a:r>
            <a:endParaRPr sz="2500" b="1" i="0" dirty="0">
              <a:solidFill>
                <a:srgbClr val="705BA8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3154680" cy="326243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lang="en-US" sz="1400" b="1" dirty="0">
                <a:solidFill>
                  <a:srgbClr val="1D2748"/>
                </a:solidFill>
                <a:latin typeface="Aptos"/>
              </a:rPr>
              <a:t>Total Orders</a:t>
            </a:r>
            <a:endParaRPr sz="1400" b="1" i="0" dirty="0">
              <a:solidFill>
                <a:srgbClr val="1D2748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617720" y="1417320"/>
            <a:ext cx="33375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89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60" y="1664208"/>
            <a:ext cx="3154680" cy="4389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 i="0">
                <a:solidFill>
                  <a:srgbClr val="389496"/>
                </a:solidFill>
                <a:latin typeface="Aptos"/>
              </a:rPr>
              <a:t>₹929.24M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176272"/>
            <a:ext cx="31546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D2748"/>
                </a:solidFill>
                <a:latin typeface="Aptos"/>
              </a:rPr>
              <a:t>Net sales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417320"/>
            <a:ext cx="333756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A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0" y="1664208"/>
            <a:ext cx="3154680" cy="43891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 i="0">
                <a:solidFill>
                  <a:srgbClr val="DEA949"/>
                </a:solidFill>
                <a:latin typeface="Aptos"/>
              </a:rPr>
              <a:t>₹170.95M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76272"/>
            <a:ext cx="3154680" cy="27432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D2748"/>
                </a:solidFill>
                <a:latin typeface="Aptos"/>
              </a:rPr>
              <a:t>Profit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00400"/>
            <a:ext cx="10424160" cy="36576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D2748"/>
                </a:solidFill>
                <a:latin typeface="Aptos"/>
              </a:rPr>
              <a:t>Project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657600"/>
            <a:ext cx="10058400" cy="1920240"/>
          </a:xfrm>
          <a:prstGeom prst="rect">
            <a:avLst/>
          </a:prstGeom>
          <a:noFill/>
        </p:spPr>
        <p:txBody>
          <a:bodyPr wrap="square" lIns="73152" tIns="36576" rIns="54864" bIns="18288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2F3442"/>
                </a:solidFill>
                <a:latin typeface="Aptos"/>
              </a:defRPr>
            </a:pPr>
            <a:r>
              <a:rPr dirty="0"/>
              <a:t>Centralized multi-branch sales data in a structured warehouse.</a:t>
            </a:r>
          </a:p>
          <a:p>
            <a:pPr>
              <a:spcAft>
                <a:spcPts val="1000"/>
              </a:spcAft>
              <a:defRPr sz="1600">
                <a:solidFill>
                  <a:srgbClr val="2F3442"/>
                </a:solidFill>
                <a:latin typeface="Aptos"/>
              </a:defRPr>
            </a:pPr>
            <a:r>
              <a:rPr dirty="0"/>
              <a:t>Made time-, branch- and product-level comparisons easier through a common model.</a:t>
            </a:r>
          </a:p>
          <a:p>
            <a:pPr>
              <a:spcAft>
                <a:spcPts val="1000"/>
              </a:spcAft>
              <a:defRPr sz="1600">
                <a:solidFill>
                  <a:srgbClr val="2F3442"/>
                </a:solidFill>
                <a:latin typeface="Aptos"/>
              </a:defRPr>
            </a:pPr>
            <a:r>
              <a:rPr dirty="0"/>
              <a:t>Created a dashboard-oriented reporting layer for regional-manager decision support.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87445"/>
            <a:ext cx="11991372" cy="357021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 i="1" dirty="0">
                <a:solidFill>
                  <a:srgbClr val="696F80"/>
                </a:solidFill>
                <a:latin typeface="Aptos"/>
              </a:rPr>
              <a:t>Note: These are the dataset totals previously reported for the project; verify against the final dashboard before presenting.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D2748"/>
                </a:solidFill>
                <a:latin typeface="Aptos"/>
              </a:rPr>
              <a:t>Conclusion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325880"/>
            <a:ext cx="5074920" cy="3246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325880"/>
            <a:ext cx="73152" cy="3246120"/>
          </a:xfrm>
          <a:prstGeom prst="rect">
            <a:avLst/>
          </a:prstGeom>
          <a:solidFill>
            <a:srgbClr val="70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472184"/>
            <a:ext cx="4754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D2748"/>
                </a:solidFill>
                <a:latin typeface="Aptos"/>
              </a:rPr>
              <a:t>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47088"/>
            <a:ext cx="4754880" cy="263347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F3442"/>
                </a:solidFill>
                <a:latin typeface="Aptos"/>
              </a:rPr>
              <a:t>• A repeatable ETL workflow prepares sales records for analysis.
• The MySQL star schema organizes facts and dimensions.
• SQL/OLAP-style analysis and Power BI provide consolidated trend insights.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325880"/>
            <a:ext cx="5074920" cy="3246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1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73152" cy="3246120"/>
          </a:xfrm>
          <a:prstGeom prst="rect">
            <a:avLst/>
          </a:prstGeom>
          <a:solidFill>
            <a:srgbClr val="389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472184"/>
            <a:ext cx="4754880" cy="32004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D2748"/>
                </a:solidFill>
                <a:latin typeface="Aptos"/>
              </a:rPr>
              <a:t>Future Enhancements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47088"/>
            <a:ext cx="4754880" cy="2633472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F3442"/>
                </a:solidFill>
                <a:latin typeface="Aptos"/>
              </a:rPr>
              <a:t>• Schedule automated refreshes.
• Add stronger data-quality checks and refresh monitoring.
• Expand drill-through and role-specific dashboard views.
• Explore forecasting as future work, if required.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0789920" cy="475488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D2748"/>
                </a:solidFill>
                <a:latin typeface="Aptos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73952"/>
            <a:ext cx="457200" cy="18288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96F80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10515600" cy="2004651"/>
          </a:xfrm>
          <a:prstGeom prst="rect">
            <a:avLst/>
          </a:prstGeom>
          <a:noFill/>
        </p:spPr>
        <p:txBody>
          <a:bodyPr wrap="square" lIns="73152" tIns="36576" rIns="54864" bIns="18288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F3442"/>
                </a:solidFill>
                <a:latin typeface="Aptos"/>
              </a:defRPr>
            </a:pPr>
            <a:r>
              <a:rPr dirty="0"/>
              <a:t>Project source repository: </a:t>
            </a:r>
            <a:r>
              <a:rPr dirty="0">
                <a:solidFill>
                  <a:srgbClr val="2121F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https://github.com/HemaHema289205/multi-branch-sales-data-warehouse</a:t>
            </a:r>
            <a:endParaRPr dirty="0">
              <a:solidFill>
                <a:srgbClr val="2121F3"/>
              </a:solidFill>
            </a:endParaRPr>
          </a:p>
          <a:p>
            <a:pPr>
              <a:spcAft>
                <a:spcPts val="1400"/>
              </a:spcAft>
              <a:defRPr sz="1600">
                <a:solidFill>
                  <a:srgbClr val="2F3442"/>
                </a:solidFill>
                <a:latin typeface="Aptos"/>
              </a:defRPr>
            </a:pPr>
            <a:r>
              <a:rPr dirty="0"/>
              <a:t>Python documentation: </a:t>
            </a:r>
            <a:r>
              <a:rPr dirty="0">
                <a:solidFill>
                  <a:srgbClr val="2121F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</a:t>
            </a:r>
            <a:endParaRPr dirty="0">
              <a:solidFill>
                <a:srgbClr val="2121F3"/>
              </a:solidFill>
            </a:endParaRPr>
          </a:p>
          <a:p>
            <a:pPr>
              <a:spcAft>
                <a:spcPts val="1400"/>
              </a:spcAft>
              <a:defRPr sz="1600">
                <a:solidFill>
                  <a:srgbClr val="2F3442"/>
                </a:solidFill>
                <a:latin typeface="Aptos"/>
              </a:defRPr>
            </a:pPr>
            <a:r>
              <a:rPr dirty="0"/>
              <a:t>Pandas documentation: </a:t>
            </a:r>
            <a:r>
              <a:rPr dirty="0">
                <a:solidFill>
                  <a:srgbClr val="2121F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https://pandas.pydata.org/docs/</a:t>
            </a:r>
            <a:endParaRPr dirty="0">
              <a:solidFill>
                <a:srgbClr val="2121F3"/>
              </a:solidFill>
            </a:endParaRPr>
          </a:p>
          <a:p>
            <a:pPr>
              <a:spcAft>
                <a:spcPts val="1400"/>
              </a:spcAft>
              <a:defRPr sz="1600">
                <a:solidFill>
                  <a:srgbClr val="2F3442"/>
                </a:solidFill>
                <a:latin typeface="Aptos"/>
              </a:defRPr>
            </a:pPr>
            <a:r>
              <a:rPr dirty="0"/>
              <a:t>MySQL documentation: </a:t>
            </a:r>
            <a:r>
              <a:rPr dirty="0">
                <a:solidFill>
                  <a:srgbClr val="2121F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https://dev.mysql.com/doc/</a:t>
            </a:r>
            <a:endParaRPr dirty="0">
              <a:solidFill>
                <a:srgbClr val="2121F3"/>
              </a:solidFill>
            </a:endParaRPr>
          </a:p>
          <a:p>
            <a:pPr>
              <a:spcAft>
                <a:spcPts val="1400"/>
              </a:spcAft>
              <a:defRPr sz="1600">
                <a:solidFill>
                  <a:srgbClr val="2F3442"/>
                </a:solidFill>
                <a:latin typeface="Aptos"/>
              </a:defRPr>
            </a:pPr>
            <a:r>
              <a:rPr dirty="0"/>
              <a:t>Microsoft Power BI documentation: </a:t>
            </a:r>
            <a:r>
              <a:rPr dirty="0">
                <a:solidFill>
                  <a:srgbClr val="2121F3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https://learn.microsoft.com/power-bi/</a:t>
            </a:r>
            <a:endParaRPr dirty="0">
              <a:solidFill>
                <a:srgbClr val="2121F3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10424160" cy="685800"/>
          </a:xfrm>
          <a:prstGeom prst="rect">
            <a:avLst/>
          </a:prstGeom>
          <a:noFill/>
        </p:spPr>
        <p:txBody>
          <a:bodyPr wrap="square" lIns="54864" tIns="54864" rIns="54864" bIns="54864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b="1" i="0" dirty="0">
                <a:solidFill>
                  <a:schemeClr val="accent5">
                    <a:lumMod val="75000"/>
                  </a:schemeClr>
                </a:solidFill>
                <a:latin typeface="Aptos"/>
              </a:rPr>
              <a:t>Before presenting: add screenshots from your actual Power BI dashboard and confirm the displayed KPI totals match the final version.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6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tagon 1">
            <a:extLst>
              <a:ext uri="{FF2B5EF4-FFF2-40B4-BE49-F238E27FC236}">
                <a16:creationId xmlns:a16="http://schemas.microsoft.com/office/drawing/2014/main" id="{F99B3CAB-0D1B-AF32-8949-46E1F87C885A}"/>
              </a:ext>
            </a:extLst>
          </p:cNvPr>
          <p:cNvSpPr/>
          <p:nvPr/>
        </p:nvSpPr>
        <p:spPr>
          <a:xfrm>
            <a:off x="2001520" y="1290320"/>
            <a:ext cx="3921760" cy="3779520"/>
          </a:xfrm>
          <a:prstGeom prst="oc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0" dirty="0"/>
              <a:t>Thank </a:t>
            </a:r>
          </a:p>
          <a:p>
            <a:pPr algn="ctr"/>
            <a:r>
              <a:rPr lang="en-US" sz="5000" dirty="0"/>
              <a:t>You</a:t>
            </a:r>
            <a:endParaRPr lang="en-IN" sz="5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257143-ECE7-9584-00B3-A6AC25245AA0}"/>
              </a:ext>
            </a:extLst>
          </p:cNvPr>
          <p:cNvSpPr txBox="1"/>
          <p:nvPr/>
        </p:nvSpPr>
        <p:spPr>
          <a:xfrm>
            <a:off x="7000240" y="4600287"/>
            <a:ext cx="440944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1800" b="0" i="0" dirty="0">
                <a:latin typeface="Aptos"/>
              </a:rPr>
              <a:t>Presented by: Gudimetla Hema Kota Nagu
Roll No.: 23ME1A5421
Guide: Mr. K. Rajendra
Ramachandra College of Engineering</a:t>
            </a:r>
          </a:p>
        </p:txBody>
      </p:sp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C26D9E94-C56C-2295-DFBB-4B85902B3C3C}"/>
              </a:ext>
            </a:extLst>
          </p:cNvPr>
          <p:cNvSpPr/>
          <p:nvPr/>
        </p:nvSpPr>
        <p:spPr>
          <a:xfrm>
            <a:off x="1351280" y="2418080"/>
            <a:ext cx="650240" cy="171704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7" name="Arrow: Curved Down 6">
            <a:extLst>
              <a:ext uri="{FF2B5EF4-FFF2-40B4-BE49-F238E27FC236}">
                <a16:creationId xmlns:a16="http://schemas.microsoft.com/office/drawing/2014/main" id="{EC8AF66D-9702-735D-2D5A-6600E0B0E55F}"/>
              </a:ext>
            </a:extLst>
          </p:cNvPr>
          <p:cNvSpPr/>
          <p:nvPr/>
        </p:nvSpPr>
        <p:spPr>
          <a:xfrm>
            <a:off x="3078480" y="619760"/>
            <a:ext cx="1910080" cy="67056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8" name="Arrow: Curved Up 7">
            <a:extLst>
              <a:ext uri="{FF2B5EF4-FFF2-40B4-BE49-F238E27FC236}">
                <a16:creationId xmlns:a16="http://schemas.microsoft.com/office/drawing/2014/main" id="{23095D10-5528-82D4-4BC5-54B452CC982F}"/>
              </a:ext>
            </a:extLst>
          </p:cNvPr>
          <p:cNvSpPr/>
          <p:nvPr/>
        </p:nvSpPr>
        <p:spPr>
          <a:xfrm>
            <a:off x="3078480" y="5069840"/>
            <a:ext cx="1910080" cy="67056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9" name="Arrow: Curved Left 8">
            <a:extLst>
              <a:ext uri="{FF2B5EF4-FFF2-40B4-BE49-F238E27FC236}">
                <a16:creationId xmlns:a16="http://schemas.microsoft.com/office/drawing/2014/main" id="{1C78DB38-9021-2AAC-0CA5-DE9DA4726592}"/>
              </a:ext>
            </a:extLst>
          </p:cNvPr>
          <p:cNvSpPr/>
          <p:nvPr/>
        </p:nvSpPr>
        <p:spPr>
          <a:xfrm>
            <a:off x="5923280" y="2418080"/>
            <a:ext cx="721360" cy="1717040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0" name="Half Frame 9">
            <a:extLst>
              <a:ext uri="{FF2B5EF4-FFF2-40B4-BE49-F238E27FC236}">
                <a16:creationId xmlns:a16="http://schemas.microsoft.com/office/drawing/2014/main" id="{E8C2360E-E084-7B9A-C103-7BDADBDFDFAF}"/>
              </a:ext>
            </a:extLst>
          </p:cNvPr>
          <p:cNvSpPr/>
          <p:nvPr/>
        </p:nvSpPr>
        <p:spPr>
          <a:xfrm>
            <a:off x="0" y="0"/>
            <a:ext cx="1910080" cy="1788160"/>
          </a:xfrm>
          <a:prstGeom prst="half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48C38C99-FCE8-11B2-698F-B3C4779632B1}"/>
              </a:ext>
            </a:extLst>
          </p:cNvPr>
          <p:cNvSpPr/>
          <p:nvPr/>
        </p:nvSpPr>
        <p:spPr>
          <a:xfrm>
            <a:off x="152400" y="152400"/>
            <a:ext cx="1910080" cy="1788160"/>
          </a:xfrm>
          <a:prstGeom prst="half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995051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92</TotalTime>
  <Words>920</Words>
  <Application>Microsoft Office PowerPoint</Application>
  <PresentationFormat>Widescreen</PresentationFormat>
  <Paragraphs>145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Neue Haas Grotesk Text Pro</vt:lpstr>
      <vt:lpstr>Helena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HEMA</dc:creator>
  <cp:keywords/>
  <dc:description>generated using python-pptx</dc:description>
  <cp:lastModifiedBy>Hema Hema</cp:lastModifiedBy>
  <cp:revision>2</cp:revision>
  <dcterms:created xsi:type="dcterms:W3CDTF">2013-01-27T09:14:16Z</dcterms:created>
  <dcterms:modified xsi:type="dcterms:W3CDTF">2026-10-17T05:35:48Z</dcterms:modified>
  <cp:category/>
</cp:coreProperties>
</file>