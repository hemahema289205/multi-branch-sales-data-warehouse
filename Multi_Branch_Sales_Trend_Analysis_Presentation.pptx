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11480"/>
            <a:ext cx="1280160" cy="1280160"/>
          </a:xfrm>
          <a:prstGeom prst="ellipse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1417320"/>
            <a:ext cx="685800" cy="685800"/>
          </a:xfrm>
          <a:prstGeom prst="ellipse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1828800"/>
            <a:ext cx="384048" cy="384048"/>
          </a:xfrm>
          <a:prstGeom prst="ellipse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2743200"/>
            <a:ext cx="320040" cy="320040"/>
          </a:xfrm>
          <a:prstGeom prst="ellipse">
            <a:avLst/>
          </a:prstGeom>
          <a:solidFill>
            <a:srgbClr val="E6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E0F6"/>
                </a:solidFill>
                <a:latin typeface="Aptos"/>
              </a:rPr>
              <a:t>PROJECT PRESENTATION  |  BIG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868680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An Intelligent System to Consolidate Multi-Branch Sales Data for Trend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69494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E6E0F6"/>
                </a:solidFill>
                <a:latin typeface="Aptos"/>
              </a:rPr>
              <a:t>Data Warehouse • OLAP Analysis • Power BI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822191"/>
            <a:ext cx="1188720" cy="64008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096512"/>
            <a:ext cx="658368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Presented by: Gudimetla Hema Kota Nagu
Roll No.: 23ME1A5421
Guide: Mr. K. Rajendra
Ramachandra College of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272784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6E0F6"/>
                </a:solidFill>
                <a:latin typeface="Aptos"/>
              </a:rPr>
              <a:t>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442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2F3442"/>
                </a:solidFill>
                <a:latin typeface="Aptos"/>
              </a:rPr>
              <a:t>This project presents a star-schema data warehouse that consolidates multi-branch retail sales data for trend analysis. Point-of-sale transaction exports are cleaned and transformed using Python and Pandas, then stored in MySQL for structured analysis. SQL-based analytical queries and OLAP-style views support comparison across time, branches, products and customer segments. The results are presented through a Power BI dashboard designed to help regional managers monitor performance and make data-informed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924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Centralized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306324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Combines sales records from multiple branches.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46120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246120"/>
            <a:ext cx="73152" cy="141732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3924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Analytical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67328"/>
            <a:ext cx="306324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Star schema supports efficient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73152" cy="1417320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3924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Visual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67328"/>
            <a:ext cx="306324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Power BI turns metrics into interactive views.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05BA8"/>
                </a:solidFill>
                <a:latin typeface="Aptos"/>
              </a:rPr>
              <a:t>Keywords: Retail • Sales • Data Warehouse • Star Schema • Trend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D2748"/>
                </a:solidFill>
                <a:latin typeface="Aptos"/>
              </a:rPr>
              <a:t>When each retail branch maintains sales data separately, managers may struggle to get a consistent, consolidated view of business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2011680"/>
          </a:xfrm>
          <a:prstGeom prst="rect">
            <a:avLst/>
          </a:prstGeom>
          <a:solidFill>
            <a:srgbClr val="BE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9514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Data is scattered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3108960" cy="1399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Different branch files and formats make combined analysis time-consuming.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2011680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9514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Manual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70048"/>
            <a:ext cx="3108960" cy="1399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Repeated cleaning and report preparation can delay insights.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48840"/>
            <a:ext cx="73152" cy="201168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29514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Limited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670048"/>
            <a:ext cx="3108960" cy="1399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Comparing sales across branches, products and months is harder without a common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F3442"/>
                </a:solidFill>
                <a:latin typeface="Aptos"/>
              </a:rPr>
              <a:t>Need: a reliable pipeline that standardizes, consolidates and visualizes multi-branch sales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234440"/>
            <a:ext cx="502920" cy="502920"/>
          </a:xfrm>
          <a:prstGeom prst="ellipse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44168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1615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216152"/>
            <a:ext cx="71323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Use POS transaction exports as the source data.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Clean &amp;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76272"/>
            <a:ext cx="71323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Prepare consistent, analysis-ready records using Python and Pandas.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64408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3639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Consolidate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36392"/>
            <a:ext cx="71323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Store fact and dimension data in a MySQL star-schema warehouse.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4D9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9651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096512"/>
            <a:ext cx="71323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Support time, branch, product and profitability comparisons.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074920"/>
            <a:ext cx="502920" cy="502920"/>
          </a:xfrm>
          <a:prstGeom prst="ellipse">
            <a:avLst/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56632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056632"/>
            <a:ext cx="71323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Present key metrics and trends through a Power BI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Existing Approach vs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3474720"/>
          </a:xfrm>
          <a:prstGeom prst="rect">
            <a:avLst/>
          </a:prstGeom>
          <a:solidFill>
            <a:srgbClr val="BE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Common manual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4754880" cy="2862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• Branch files stored separately
• Repeated data cleaning
• Manual spreadsheet consolidation
• Reports may be delayed or inconsistent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73152" cy="347472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72184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Proposed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754880" cy="2862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• Python/Pandas ETL process
• Central MySQL star-schema warehouse
• SQL and OLAP-style analysis
• Interactive Power BI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Outcome: a repeatable data-to-dashboard workflow for multi-branch sales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96596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1819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POS exports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CSV /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08760"/>
            <a:ext cx="196596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89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664207"/>
            <a:ext cx="1819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ETL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05740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Python + 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508760"/>
            <a:ext cx="196596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E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664207"/>
            <a:ext cx="1819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Data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05740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08760"/>
            <a:ext cx="1965960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D9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1664207"/>
            <a:ext cx="1819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Analysis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05740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SQL / OLAP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508760"/>
            <a:ext cx="1874519" cy="1051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1664207"/>
            <a:ext cx="17282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057400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Power BI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78608" y="2029968"/>
            <a:ext cx="301752" cy="0"/>
          </a:xfrm>
          <a:prstGeom prst="line">
            <a:avLst/>
          </a:prstGeom>
          <a:ln w="21590">
            <a:solidFill>
              <a:srgbClr val="7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10327" y="2029968"/>
            <a:ext cx="301753" cy="0"/>
          </a:xfrm>
          <a:prstGeom prst="line">
            <a:avLst/>
          </a:prstGeom>
          <a:ln w="21590">
            <a:solidFill>
              <a:srgbClr val="7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42048" y="2029968"/>
            <a:ext cx="301752" cy="0"/>
          </a:xfrm>
          <a:prstGeom prst="line">
            <a:avLst/>
          </a:prstGeom>
          <a:ln w="21590">
            <a:solidFill>
              <a:srgbClr val="7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73768" y="2029968"/>
            <a:ext cx="118872" cy="0"/>
          </a:xfrm>
          <a:prstGeom prst="line">
            <a:avLst/>
          </a:prstGeom>
          <a:ln w="21590">
            <a:solidFill>
              <a:srgbClr val="7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2461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705BA8"/>
                </a:solidFill>
                <a:latin typeface="Aptos"/>
              </a:rPr>
              <a:t>Data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9476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794760"/>
            <a:ext cx="73152" cy="1234440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941064"/>
            <a:ext cx="26974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15968"/>
            <a:ext cx="2697479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Raw transaction exports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79476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794760"/>
            <a:ext cx="73152" cy="123444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941064"/>
            <a:ext cx="26974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315968"/>
            <a:ext cx="2697479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Clean, standardize and load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9476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794760"/>
            <a:ext cx="73152" cy="1234440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941064"/>
            <a:ext cx="26974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15968"/>
            <a:ext cx="2697479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F3442"/>
                </a:solidFill>
                <a:latin typeface="Aptos"/>
              </a:rPr>
              <a:t>Aggregated insights and visuals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696F80"/>
                </a:solidFill>
                <a:latin typeface="Aptos"/>
              </a:rPr>
              <a:t>The architecture separates data preparation, storage, analysis and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Methodology / ETL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Read POS data from CSV/Excel exports.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33088" y="2130552"/>
            <a:ext cx="283464" cy="0"/>
          </a:xfrm>
          <a:prstGeom prst="line">
            <a:avLst/>
          </a:prstGeom>
          <a:ln w="17780">
            <a:solidFill>
              <a:srgbClr val="B2A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4173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17320"/>
            <a:ext cx="73152" cy="146304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5636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385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Clean missing/inconsistent values; standardize formats and derive measures.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3568" y="2130552"/>
            <a:ext cx="283464" cy="0"/>
          </a:xfrm>
          <a:prstGeom prst="line">
            <a:avLst/>
          </a:prstGeom>
          <a:ln w="17780">
            <a:solidFill>
              <a:srgbClr val="B2A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14173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417320"/>
            <a:ext cx="73152" cy="1463040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636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385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Load dimension and fact records into MySQL.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73152" cy="1463040"/>
          </a:xfrm>
          <a:prstGeom prst="rect">
            <a:avLst/>
          </a:prstGeom>
          <a:solidFill>
            <a:srgbClr val="4D9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210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959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Organize data using a star schema.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33088" y="4187952"/>
            <a:ext cx="283464" cy="0"/>
          </a:xfrm>
          <a:prstGeom prst="line">
            <a:avLst/>
          </a:prstGeom>
          <a:ln w="17780">
            <a:solidFill>
              <a:srgbClr val="B2A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0" y="34747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474720"/>
            <a:ext cx="73152" cy="1463040"/>
          </a:xfrm>
          <a:prstGeom prst="rect">
            <a:avLst/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6210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9959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Use SQL queries and OLAP-style grouping for trend comparisons.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73568" y="4187952"/>
            <a:ext cx="283464" cy="0"/>
          </a:xfrm>
          <a:prstGeom prst="line">
            <a:avLst/>
          </a:prstGeom>
          <a:ln w="17780">
            <a:solidFill>
              <a:srgbClr val="B2A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12480" y="3474720"/>
            <a:ext cx="3383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3474720"/>
            <a:ext cx="73152" cy="1463040"/>
          </a:xfrm>
          <a:prstGeom prst="rect">
            <a:avLst/>
          </a:prstGeom>
          <a:solidFill>
            <a:srgbClr val="BE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62102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D2748"/>
                </a:solidFill>
                <a:latin typeface="Aptos"/>
              </a:rPr>
              <a:t>Visualize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995928"/>
            <a:ext cx="306324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Build Power BI pages with KPIs, comparisons and trends.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705BA8"/>
                </a:solidFill>
                <a:latin typeface="Aptos"/>
              </a:rPr>
              <a:t>ETL = Extract, Transform, 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Star-Schema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31720"/>
            <a:ext cx="3291840" cy="1828800"/>
          </a:xfrm>
          <a:prstGeom prst="roundRect">
            <a:avLst/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542032"/>
            <a:ext cx="2834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FACT_SALES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999232"/>
            <a:ext cx="28346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date_key • product_key
branch_key • customer_key
quantity • net_sales •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560320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2414015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DIM_DATE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234086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F3442"/>
                </a:solidFill>
                <a:latin typeface="Aptos"/>
              </a:rPr>
              <a:t>Date, month, quarter,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325880"/>
            <a:ext cx="2560320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89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1490472"/>
            <a:ext cx="2414015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DIM_PRODUCT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7" y="1847088"/>
            <a:ext cx="234086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F3442"/>
                </a:solidFill>
                <a:latin typeface="Aptos"/>
              </a:rPr>
              <a:t>Product,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2560320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E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507992"/>
            <a:ext cx="2414015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DIM_BRANCH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864608"/>
            <a:ext cx="234086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F3442"/>
                </a:solidFill>
                <a:latin typeface="Aptos"/>
              </a:rPr>
              <a:t>Branch, city,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343400"/>
            <a:ext cx="2560320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D9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4507992"/>
            <a:ext cx="2414015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D2748"/>
                </a:solidFill>
                <a:latin typeface="Aptos"/>
              </a:rPr>
              <a:t>DIM_CUSTOMER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7" y="4864608"/>
            <a:ext cx="234086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F3442"/>
                </a:solidFill>
                <a:latin typeface="Aptos"/>
              </a:rPr>
              <a:t>Customer, segment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1920240"/>
            <a:ext cx="1051560" cy="685800"/>
          </a:xfrm>
          <a:prstGeom prst="line">
            <a:avLst/>
          </a:prstGeom>
          <a:ln w="19050">
            <a:solidFill>
              <a:srgbClr val="7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680960" y="1920240"/>
            <a:ext cx="1188720" cy="685800"/>
          </a:xfrm>
          <a:prstGeom prst="line">
            <a:avLst/>
          </a:prstGeom>
          <a:ln w="19050">
            <a:solidFill>
              <a:srgbClr val="389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337560" y="3794760"/>
            <a:ext cx="1051560" cy="960120"/>
          </a:xfrm>
          <a:prstGeom prst="line">
            <a:avLst/>
          </a:prstGeom>
          <a:ln w="19050">
            <a:solidFill>
              <a:srgbClr val="DEA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680960" y="3794760"/>
            <a:ext cx="1188720" cy="960120"/>
          </a:xfrm>
          <a:prstGeom prst="line">
            <a:avLst/>
          </a:prstGeom>
          <a:ln w="19050">
            <a:solidFill>
              <a:srgbClr val="4D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0" y="58064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696F80"/>
                </a:solidFill>
                <a:latin typeface="Aptos"/>
              </a:rPr>
              <a:t>Dimensions describe the facts; measures support aggregation.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Implementation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566928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80744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35024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POS transaction exports (CSV / Excel)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84248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84248"/>
            <a:ext cx="73152" cy="566928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30552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Programming &amp; 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084831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Python, 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34056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734056"/>
            <a:ext cx="73152" cy="566928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834640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83864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483864"/>
            <a:ext cx="73152" cy="566928"/>
          </a:xfrm>
          <a:prstGeom prst="rect">
            <a:avLst/>
          </a:prstGeom>
          <a:solidFill>
            <a:srgbClr val="4D9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30168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584448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SQL queries and OLAP-style aggregations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33672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33672"/>
            <a:ext cx="73152" cy="566928"/>
          </a:xfrm>
          <a:prstGeom prst="rect">
            <a:avLst/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79976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334256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Microsoft Power 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83479"/>
            <a:ext cx="2834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983479"/>
            <a:ext cx="73152" cy="566928"/>
          </a:xfrm>
          <a:prstGeom prst="rect">
            <a:avLst/>
          </a:prstGeom>
          <a:solidFill>
            <a:srgbClr val="BE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29783"/>
            <a:ext cx="2514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Version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084064"/>
            <a:ext cx="66751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F3442"/>
                </a:solidFill>
                <a:latin typeface="Aptos"/>
              </a:rPr>
              <a:t>GitHub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05BA8"/>
                </a:solidFill>
                <a:latin typeface="Aptos"/>
              </a:rPr>
              <a:t>Repository: github.com/HemaHema289205/multi-branch-sales-data-warehouse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4800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Sales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480060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High-level sales, profit, orders and quantity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120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73152" cy="141732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72184"/>
            <a:ext cx="4800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Branch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80060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Compare branch and regional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120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DE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4800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Product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480060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Identify leading products and category contributions.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5120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246120"/>
            <a:ext cx="73152" cy="1417320"/>
          </a:xfrm>
          <a:prstGeom prst="rect">
            <a:avLst/>
          </a:prstGeom>
          <a:solidFill>
            <a:srgbClr val="4D9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392424"/>
            <a:ext cx="4800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Trend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67328"/>
            <a:ext cx="480060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F3442"/>
                </a:solidFill>
                <a:latin typeface="Aptos"/>
              </a:rPr>
              <a:t>Review sales movement over time and seasonal patterns where data supports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30352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394960"/>
            <a:ext cx="22402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96F80"/>
                </a:solidFill>
                <a:latin typeface="Aptos"/>
              </a:rPr>
              <a:t>NET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96128"/>
            <a:ext cx="22402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705BA8"/>
                </a:solidFill>
                <a:latin typeface="Aptos"/>
              </a:rPr>
              <a:t>₹929.2M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94960"/>
            <a:ext cx="22402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96F80"/>
                </a:solidFill>
                <a:latin typeface="Aptos"/>
              </a:rPr>
              <a:t>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96128"/>
            <a:ext cx="22402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89496"/>
                </a:solidFill>
                <a:latin typeface="Aptos"/>
              </a:rPr>
              <a:t>₹171.0M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394960"/>
            <a:ext cx="22402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96F80"/>
                </a:solidFill>
                <a:latin typeface="Aptos"/>
              </a:rPr>
              <a:t>FACT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596128"/>
            <a:ext cx="22402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DEA949"/>
                </a:solidFill>
                <a:latin typeface="Aptos"/>
              </a:rPr>
              <a:t>39,960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394960"/>
            <a:ext cx="22402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96F80"/>
                </a:solidFill>
                <a:latin typeface="Aptos"/>
              </a:rPr>
              <a:t>BRANCHES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596128"/>
            <a:ext cx="22402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D9270"/>
                </a:solidFill>
                <a:latin typeface="Aptos"/>
              </a:rPr>
              <a:t>Multiple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08192"/>
            <a:ext cx="102412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96F80"/>
                </a:solidFill>
                <a:latin typeface="Aptos"/>
              </a:rPr>
              <a:t>KPI values shown are reported project dataset totals; replace with current dashboard values if they differ.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Results &amp;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705BA8"/>
                </a:solidFill>
                <a:latin typeface="Aptos"/>
              </a:rPr>
              <a:t>39,960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3154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Fact sales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9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64208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389496"/>
                </a:solidFill>
                <a:latin typeface="Aptos"/>
              </a:rPr>
              <a:t>₹929.24M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76272"/>
            <a:ext cx="3154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Net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17320"/>
            <a:ext cx="33375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A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64208"/>
            <a:ext cx="3154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DEA949"/>
                </a:solidFill>
                <a:latin typeface="Aptos"/>
              </a:rPr>
              <a:t>₹170.95M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76272"/>
            <a:ext cx="3154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D2748"/>
                </a:solidFill>
                <a:latin typeface="Aptos"/>
              </a:rP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Project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058400" cy="192024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Centralized multi-branch sales data in a structured warehouse.</a:t>
            </a:r>
          </a:p>
          <a:p>
            <a:pPr>
              <a:spcAft>
                <a:spcPts val="10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Made time-, branch- and product-level comparisons easier through a common model.</a:t>
            </a:r>
          </a:p>
          <a:p>
            <a:pPr>
              <a:spcAft>
                <a:spcPts val="10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Created a dashboard-oriented reporting layer for regional-manager decision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149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96F80"/>
                </a:solidFill>
                <a:latin typeface="Aptos"/>
              </a:rPr>
              <a:t>Note: These are the dataset totals previously reported for the project; verify against the final dashboard before presenting.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3246120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72184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4754880" cy="2633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F3442"/>
                </a:solidFill>
                <a:latin typeface="Aptos"/>
              </a:rPr>
              <a:t>• A repeatable ETL workflow prepares sales records for analysis.
• The MySQL star schema organizes facts and dimensions.
• SQL/OLAP-style analysis and Power BI provide consolidated trend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3246120"/>
          </a:xfrm>
          <a:prstGeom prst="rect">
            <a:avLst/>
          </a:prstGeom>
          <a:solidFill>
            <a:srgbClr val="389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72184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D2748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4754880" cy="2633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F3442"/>
                </a:solidFill>
                <a:latin typeface="Aptos"/>
              </a:rPr>
              <a:t>• Schedule automated refreshes.
• Add stronger data-quality checks and refresh monitoring.
• Expand drill-through and role-specific dashboard views.
• Explore forecasting as future work, if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1D2748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705BA8"/>
                </a:solidFill>
                <a:latin typeface="Aptos"/>
              </a:rPr>
              <a:t>Questions &amp; Answers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D2748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194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705BA8"/>
                </a:solidFill>
                <a:latin typeface="Aptos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96F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108960"/>
          </a:xfrm>
          <a:prstGeom prst="rect">
            <a:avLst/>
          </a:prstGeom>
          <a:noFill/>
        </p:spPr>
        <p:txBody>
          <a:bodyPr wrap="square" lIns="73152" rIns="54864" tIns="36576" bIns="18288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Project source repository: https://github.com/HemaHema289205/multi-branch-sales-data-warehouse</a:t>
            </a:r>
          </a:p>
          <a:p>
            <a:pPr>
              <a:spcAft>
                <a:spcPts val="14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Python documentation: https://docs.python.org/3/</a:t>
            </a:r>
          </a:p>
          <a:p>
            <a:pPr>
              <a:spcAft>
                <a:spcPts val="14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Pandas documentation: https://pandas.pydata.org/docs/</a:t>
            </a:r>
          </a:p>
          <a:p>
            <a:pPr>
              <a:spcAft>
                <a:spcPts val="14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MySQL documentation: https://dev.mysql.com/doc/</a:t>
            </a:r>
          </a:p>
          <a:p>
            <a:pPr>
              <a:spcAft>
                <a:spcPts val="1400"/>
              </a:spcAft>
              <a:defRPr sz="1600">
                <a:solidFill>
                  <a:srgbClr val="2F3442"/>
                </a:solidFill>
                <a:latin typeface="Aptos"/>
              </a:defRPr>
            </a:pPr>
            <a:r>
              <a:t>Microsoft Power BI documentation: https://learn.microsoft.com/power-bi/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E5F6A"/>
                </a:solidFill>
                <a:latin typeface="Aptos"/>
              </a:rPr>
              <a:t>Before presenting: add screenshots from your actual Power BI dashboard and confirm the displayed KPI totals match the final 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